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Nunito Semi Bold" panose="020B0604020202020204" charset="0"/>
      <p:regular r:id="rId17"/>
    </p:embeddedFont>
    <p:embeddedFont>
      <p:font typeface="PT Sans" panose="020F0502020204030204" pitchFamily="34" charset="0"/>
      <p:regular r:id="rId18"/>
    </p:embeddedFont>
  </p:embeddedFontLst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1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0941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www.kaggle.com/datasets/debasisdotcom/parkinson-disease-detection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695694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Presentation.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462701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837724" y="5132784"/>
            <a:ext cx="382905" cy="382905"/>
          </a:xfrm>
          <a:prstGeom prst="roundRect">
            <a:avLst>
              <a:gd name="adj" fmla="val 23878209"/>
            </a:avLst>
          </a:prstGeom>
          <a:solidFill>
            <a:srgbClr val="FEBFB7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4765" y="5275421"/>
            <a:ext cx="108823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0"/>
              </a:lnSpc>
              <a:buNone/>
            </a:pPr>
            <a:r>
              <a:rPr lang="en-US" sz="750" dirty="0">
                <a:solidFill>
                  <a:srgbClr val="4D4D51"/>
                </a:solidFill>
                <a:latin typeface="PT Sans Medium" pitchFamily="34" charset="0"/>
                <a:ea typeface="PT Sans Medium" pitchFamily="34" charset="-122"/>
                <a:cs typeface="PT Sans Medium" pitchFamily="34" charset="-120"/>
              </a:rPr>
              <a:t>SB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1340287" y="5114925"/>
            <a:ext cx="2262902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3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Suneel Bharthi</a:t>
            </a:r>
          </a:p>
          <a:p>
            <a:pPr marL="0" indent="0" algn="l">
              <a:lnSpc>
                <a:spcPts val="3250"/>
              </a:lnSpc>
              <a:buNone/>
            </a:pPr>
            <a:r>
              <a:rPr lang="en-US" sz="23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</a:rPr>
              <a:t>CSC-21F-121</a:t>
            </a:r>
            <a:endParaRPr lang="en-US" sz="2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058716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Parkinson’s Disease Prediction Using Machine Learning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827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7125" y="3518892"/>
            <a:ext cx="5426393" cy="67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Introduction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807125" y="4543068"/>
            <a:ext cx="518874" cy="518874"/>
          </a:xfrm>
          <a:prstGeom prst="roundRect">
            <a:avLst>
              <a:gd name="adj" fmla="val 66671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556623" y="4622244"/>
            <a:ext cx="2713196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Objective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556623" y="5099685"/>
            <a:ext cx="5614511" cy="737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Develop an ML model for early Parkinson's Disease detection using voice and clinical data.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459385" y="4543068"/>
            <a:ext cx="518874" cy="518874"/>
          </a:xfrm>
          <a:prstGeom prst="roundRect">
            <a:avLst>
              <a:gd name="adj" fmla="val 66671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08883" y="4622244"/>
            <a:ext cx="2713196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Importance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208883" y="5099685"/>
            <a:ext cx="5614511" cy="737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Early diagnosis can slow disease progression and improve patient outcomes significantly.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07125" y="6298882"/>
            <a:ext cx="518874" cy="518874"/>
          </a:xfrm>
          <a:prstGeom prst="roundRect">
            <a:avLst>
              <a:gd name="adj" fmla="val 66671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556623" y="6378059"/>
            <a:ext cx="2713196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Dataset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556623" y="6855500"/>
            <a:ext cx="5614511" cy="737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Sourced from Kaggle, focusing on structured medical data patterns.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7459385" y="6298882"/>
            <a:ext cx="518874" cy="518874"/>
          </a:xfrm>
          <a:prstGeom prst="roundRect">
            <a:avLst>
              <a:gd name="adj" fmla="val 66671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08883" y="6378059"/>
            <a:ext cx="2713196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Approach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208883" y="6855500"/>
            <a:ext cx="5614511" cy="7379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Utilize classification algorithms to identify patterns in the data.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911191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Problem Statement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213497"/>
            <a:ext cx="280082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3804761"/>
            <a:ext cx="2800826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Parkinson’s Disease is a progressive neurological disorder affecting movement and speech, making early detection difficult.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4230053" y="3213497"/>
            <a:ext cx="280082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Goal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30053" y="3804761"/>
            <a:ext cx="2800826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Build an accurate, non-invasive classification model to predict Parkinson’s using voice features and clinical indicators.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622381" y="3213497"/>
            <a:ext cx="280082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Why ML?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22381" y="3804761"/>
            <a:ext cx="2800826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Machine Learning detects subtle data patterns, enabling efficient preliminary screening.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1014710" y="3213497"/>
            <a:ext cx="280082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Challenges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4710" y="3804761"/>
            <a:ext cx="2800826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High-dimensional data, class imbalance, and the need for interpretable results are key challenges.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994" y="560546"/>
            <a:ext cx="4787027" cy="59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Methodology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994" y="1565791"/>
            <a:ext cx="1017151" cy="12206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34302" y="1769150"/>
            <a:ext cx="239351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Dataset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034302" y="2190274"/>
            <a:ext cx="11884104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Kaggle Parkinson’s dataset with voice and clinical features.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994" y="2786420"/>
            <a:ext cx="1017151" cy="12206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34302" y="2989778"/>
            <a:ext cx="239351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Preprocessing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2034302" y="3410903"/>
            <a:ext cx="11884104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Handle missing values, scale features, address class imbalance.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994" y="4007048"/>
            <a:ext cx="1017151" cy="12206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34302" y="4210407"/>
            <a:ext cx="239351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Algorithms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2034302" y="4631531"/>
            <a:ext cx="11884104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Logistic Regression, Random Forest, SVM, Gradient Boosting, XGBoost.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994" y="5227677"/>
            <a:ext cx="1017151" cy="122062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034302" y="5431036"/>
            <a:ext cx="239351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Evaluation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2034302" y="5852160"/>
            <a:ext cx="11884104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Accuracy, Precision, Recall, F1-Score, ROC-AUC metrics.</a:t>
            </a:r>
            <a:endParaRPr lang="en-US" sz="1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994" y="6448306"/>
            <a:ext cx="1017151" cy="122062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034302" y="6651665"/>
            <a:ext cx="2393513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Training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2034302" y="7072789"/>
            <a:ext cx="11884104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Split data (80% train, 20% test), use cross-validation.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2565" y="410527"/>
            <a:ext cx="3787378" cy="43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Working Code Snippets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22565" y="1148239"/>
            <a:ext cx="13585269" cy="6672501"/>
          </a:xfrm>
          <a:prstGeom prst="roundRect">
            <a:avLst>
              <a:gd name="adj" fmla="val 3356"/>
            </a:avLst>
          </a:prstGeom>
          <a:solidFill>
            <a:srgbClr val="CFD6FC"/>
          </a:solidFill>
          <a:ln/>
        </p:spPr>
      </p:sp>
      <p:sp>
        <p:nvSpPr>
          <p:cNvPr id="4" name="Shape 2"/>
          <p:cNvSpPr/>
          <p:nvPr/>
        </p:nvSpPr>
        <p:spPr>
          <a:xfrm>
            <a:off x="515183" y="1148239"/>
            <a:ext cx="13600033" cy="6672501"/>
          </a:xfrm>
          <a:prstGeom prst="roundRect">
            <a:avLst>
              <a:gd name="adj" fmla="val 336"/>
            </a:avLst>
          </a:prstGeom>
          <a:solidFill>
            <a:srgbClr val="CFD6FC"/>
          </a:solidFill>
          <a:ln/>
        </p:spPr>
      </p:sp>
      <p:sp>
        <p:nvSpPr>
          <p:cNvPr id="5" name="Text 3"/>
          <p:cNvSpPr/>
          <p:nvPr/>
        </p:nvSpPr>
        <p:spPr>
          <a:xfrm>
            <a:off x="664488" y="1260158"/>
            <a:ext cx="13301424" cy="6448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00002E"/>
                </a:solidFill>
                <a:highlight>
                  <a:srgbClr val="CFD6F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Importing libraries
import pandas as pd
from sklearn.model_selection import train_test_split
from sklearn.preprocessing import StandardScaler
from sklearn.ensemble import RandomForestClassifier
from sklearn.metrics import accuracy_score, classification_report
# Load dataset
data = pd.read_csv('parkinsons.csv')
X = data.drop('status', axis=1)
y = data['status']
# Split and scale data
X_train, X_test, y_train, y_test = train_test_split(X, y, test_size=0.2, random_state=42)
scaler = StandardScaler()
X_train = scaler.fit_transform(X_train)
X_test = scaler.transform(X_test)
# Train Random Forest model
model = RandomForestClassifier(n_estimators=100, random_state=42)
model.fit(X_train, y_train)
y_pred = model.predict(X_test)
# Evaluate
print("Accuracy:", accuracy_score(y_test, y_pred))
print(classification_report(y_test, y_pred))
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7587" y="1035844"/>
            <a:ext cx="4689753" cy="586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Results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97587" y="1920954"/>
            <a:ext cx="7748826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Performance of different algorithms on the test set: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97587" y="2463998"/>
            <a:ext cx="7748826" cy="4729639"/>
          </a:xfrm>
          <a:prstGeom prst="roundRect">
            <a:avLst>
              <a:gd name="adj" fmla="val 632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05207" y="2471618"/>
            <a:ext cx="7735014" cy="57316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04994" y="2598777"/>
            <a:ext cx="88665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Algorithm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197894" y="2598777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Accuracy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3486983" y="2598777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Precision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4776073" y="2598777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Recall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065163" y="2598777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F1-Score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7354253" y="2598777"/>
            <a:ext cx="88665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ROC-AUC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05207" y="3044785"/>
            <a:ext cx="7735014" cy="121086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904994" y="3171944"/>
            <a:ext cx="886658" cy="95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Logistic Regression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2197894" y="3171944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0.85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3486983" y="3171944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0.84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4776073" y="3171944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0.87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065163" y="3171944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0.85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7354253" y="3171944"/>
            <a:ext cx="88665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0.90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705207" y="4255651"/>
            <a:ext cx="7735014" cy="8920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904994" y="4382810"/>
            <a:ext cx="886658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Random Forest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2197894" y="4382810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0.92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3486983" y="4382810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0.91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4776073" y="4382810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0.93</a:t>
            </a:r>
            <a:endParaRPr lang="en-US" sz="1550" dirty="0"/>
          </a:p>
        </p:txBody>
      </p:sp>
      <p:sp>
        <p:nvSpPr>
          <p:cNvPr id="25" name="Text 22"/>
          <p:cNvSpPr/>
          <p:nvPr/>
        </p:nvSpPr>
        <p:spPr>
          <a:xfrm>
            <a:off x="6065163" y="4382810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0.92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7354253" y="4382810"/>
            <a:ext cx="88665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0.95</a:t>
            </a:r>
            <a:endParaRPr lang="en-US" sz="1550" dirty="0"/>
          </a:p>
        </p:txBody>
      </p:sp>
      <p:sp>
        <p:nvSpPr>
          <p:cNvPr id="27" name="Shape 24"/>
          <p:cNvSpPr/>
          <p:nvPr/>
        </p:nvSpPr>
        <p:spPr>
          <a:xfrm>
            <a:off x="705207" y="5147667"/>
            <a:ext cx="7735014" cy="5731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904994" y="5274826"/>
            <a:ext cx="88665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SVM</a:t>
            </a:r>
            <a:endParaRPr lang="en-US" sz="1550" dirty="0"/>
          </a:p>
        </p:txBody>
      </p:sp>
      <p:sp>
        <p:nvSpPr>
          <p:cNvPr id="29" name="Text 26"/>
          <p:cNvSpPr/>
          <p:nvPr/>
        </p:nvSpPr>
        <p:spPr>
          <a:xfrm>
            <a:off x="2197894" y="5274826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0.88</a:t>
            </a:r>
            <a:endParaRPr lang="en-US" sz="1550" dirty="0"/>
          </a:p>
        </p:txBody>
      </p:sp>
      <p:sp>
        <p:nvSpPr>
          <p:cNvPr id="30" name="Text 27"/>
          <p:cNvSpPr/>
          <p:nvPr/>
        </p:nvSpPr>
        <p:spPr>
          <a:xfrm>
            <a:off x="3486983" y="5274826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0.87</a:t>
            </a:r>
            <a:endParaRPr lang="en-US" sz="1550" dirty="0"/>
          </a:p>
        </p:txBody>
      </p:sp>
      <p:sp>
        <p:nvSpPr>
          <p:cNvPr id="31" name="Text 28"/>
          <p:cNvSpPr/>
          <p:nvPr/>
        </p:nvSpPr>
        <p:spPr>
          <a:xfrm>
            <a:off x="4776073" y="5274826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0.89</a:t>
            </a:r>
            <a:endParaRPr lang="en-US" sz="1550" dirty="0"/>
          </a:p>
        </p:txBody>
      </p:sp>
      <p:sp>
        <p:nvSpPr>
          <p:cNvPr id="32" name="Text 29"/>
          <p:cNvSpPr/>
          <p:nvPr/>
        </p:nvSpPr>
        <p:spPr>
          <a:xfrm>
            <a:off x="6065163" y="5274826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0.88</a:t>
            </a:r>
            <a:endParaRPr lang="en-US" sz="1550" dirty="0"/>
          </a:p>
        </p:txBody>
      </p:sp>
      <p:sp>
        <p:nvSpPr>
          <p:cNvPr id="33" name="Text 30"/>
          <p:cNvSpPr/>
          <p:nvPr/>
        </p:nvSpPr>
        <p:spPr>
          <a:xfrm>
            <a:off x="7354253" y="5274826"/>
            <a:ext cx="88665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0.92</a:t>
            </a:r>
            <a:endParaRPr lang="en-US" sz="1550" dirty="0"/>
          </a:p>
        </p:txBody>
      </p:sp>
      <p:sp>
        <p:nvSpPr>
          <p:cNvPr id="34" name="Shape 31"/>
          <p:cNvSpPr/>
          <p:nvPr/>
        </p:nvSpPr>
        <p:spPr>
          <a:xfrm>
            <a:off x="705207" y="5720834"/>
            <a:ext cx="7735014" cy="8920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904994" y="5847993"/>
            <a:ext cx="886658" cy="637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Gradient Boosting</a:t>
            </a:r>
            <a:endParaRPr lang="en-US" sz="1550" dirty="0"/>
          </a:p>
        </p:txBody>
      </p:sp>
      <p:sp>
        <p:nvSpPr>
          <p:cNvPr id="36" name="Text 33"/>
          <p:cNvSpPr/>
          <p:nvPr/>
        </p:nvSpPr>
        <p:spPr>
          <a:xfrm>
            <a:off x="2197894" y="5847993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0.90</a:t>
            </a:r>
            <a:endParaRPr lang="en-US" sz="1550" dirty="0"/>
          </a:p>
        </p:txBody>
      </p:sp>
      <p:sp>
        <p:nvSpPr>
          <p:cNvPr id="37" name="Text 34"/>
          <p:cNvSpPr/>
          <p:nvPr/>
        </p:nvSpPr>
        <p:spPr>
          <a:xfrm>
            <a:off x="3486983" y="5847993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0.89</a:t>
            </a:r>
            <a:endParaRPr lang="en-US" sz="1550" dirty="0"/>
          </a:p>
        </p:txBody>
      </p:sp>
      <p:sp>
        <p:nvSpPr>
          <p:cNvPr id="38" name="Text 35"/>
          <p:cNvSpPr/>
          <p:nvPr/>
        </p:nvSpPr>
        <p:spPr>
          <a:xfrm>
            <a:off x="4776073" y="5847993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0.91</a:t>
            </a:r>
            <a:endParaRPr lang="en-US" sz="1550" dirty="0"/>
          </a:p>
        </p:txBody>
      </p:sp>
      <p:sp>
        <p:nvSpPr>
          <p:cNvPr id="39" name="Text 36"/>
          <p:cNvSpPr/>
          <p:nvPr/>
        </p:nvSpPr>
        <p:spPr>
          <a:xfrm>
            <a:off x="6065163" y="5847993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0.90</a:t>
            </a:r>
            <a:endParaRPr lang="en-US" sz="1550" dirty="0"/>
          </a:p>
        </p:txBody>
      </p:sp>
      <p:sp>
        <p:nvSpPr>
          <p:cNvPr id="40" name="Text 37"/>
          <p:cNvSpPr/>
          <p:nvPr/>
        </p:nvSpPr>
        <p:spPr>
          <a:xfrm>
            <a:off x="7354253" y="5847993"/>
            <a:ext cx="88665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0.94</a:t>
            </a:r>
            <a:endParaRPr lang="en-US" sz="1550" dirty="0"/>
          </a:p>
        </p:txBody>
      </p:sp>
      <p:sp>
        <p:nvSpPr>
          <p:cNvPr id="41" name="Shape 38"/>
          <p:cNvSpPr/>
          <p:nvPr/>
        </p:nvSpPr>
        <p:spPr>
          <a:xfrm>
            <a:off x="705207" y="6612850"/>
            <a:ext cx="7735014" cy="57316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904994" y="6740009"/>
            <a:ext cx="88665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XGBoost</a:t>
            </a:r>
            <a:endParaRPr lang="en-US" sz="1550" dirty="0"/>
          </a:p>
        </p:txBody>
      </p:sp>
      <p:sp>
        <p:nvSpPr>
          <p:cNvPr id="43" name="Text 40"/>
          <p:cNvSpPr/>
          <p:nvPr/>
        </p:nvSpPr>
        <p:spPr>
          <a:xfrm>
            <a:off x="2197894" y="6740009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0.93</a:t>
            </a:r>
            <a:endParaRPr lang="en-US" sz="1550" dirty="0"/>
          </a:p>
        </p:txBody>
      </p:sp>
      <p:sp>
        <p:nvSpPr>
          <p:cNvPr id="44" name="Text 41"/>
          <p:cNvSpPr/>
          <p:nvPr/>
        </p:nvSpPr>
        <p:spPr>
          <a:xfrm>
            <a:off x="3486983" y="6740009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0.92</a:t>
            </a:r>
            <a:endParaRPr lang="en-US" sz="1550" dirty="0"/>
          </a:p>
        </p:txBody>
      </p:sp>
      <p:sp>
        <p:nvSpPr>
          <p:cNvPr id="45" name="Text 42"/>
          <p:cNvSpPr/>
          <p:nvPr/>
        </p:nvSpPr>
        <p:spPr>
          <a:xfrm>
            <a:off x="4776073" y="6740009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0.94</a:t>
            </a:r>
            <a:endParaRPr lang="en-US" sz="1550" dirty="0"/>
          </a:p>
        </p:txBody>
      </p:sp>
      <p:sp>
        <p:nvSpPr>
          <p:cNvPr id="46" name="Text 43"/>
          <p:cNvSpPr/>
          <p:nvPr/>
        </p:nvSpPr>
        <p:spPr>
          <a:xfrm>
            <a:off x="6065163" y="6740009"/>
            <a:ext cx="88284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0.93</a:t>
            </a:r>
            <a:endParaRPr lang="en-US" sz="1550" dirty="0"/>
          </a:p>
        </p:txBody>
      </p:sp>
      <p:sp>
        <p:nvSpPr>
          <p:cNvPr id="47" name="Text 44"/>
          <p:cNvSpPr/>
          <p:nvPr/>
        </p:nvSpPr>
        <p:spPr>
          <a:xfrm>
            <a:off x="7354253" y="6740009"/>
            <a:ext cx="886658" cy="318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0.96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5329" y="736521"/>
            <a:ext cx="48768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Analysis</a:t>
            </a:r>
            <a:endParaRPr lang="en-US" sz="3800" dirty="0"/>
          </a:p>
        </p:txBody>
      </p:sp>
      <p:sp>
        <p:nvSpPr>
          <p:cNvPr id="4" name="Shape 1"/>
          <p:cNvSpPr/>
          <p:nvPr/>
        </p:nvSpPr>
        <p:spPr>
          <a:xfrm>
            <a:off x="725329" y="1656993"/>
            <a:ext cx="7693343" cy="1220748"/>
          </a:xfrm>
          <a:prstGeom prst="roundRect">
            <a:avLst>
              <a:gd name="adj" fmla="val 25468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55358" y="1887022"/>
            <a:ext cx="2438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Best Algorithm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955358" y="2316123"/>
            <a:ext cx="7233285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XGBoost performed best with 0.93 accuracy, 0.93 F1-Score, and 0.96 ROC-AUC.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25329" y="3084909"/>
            <a:ext cx="7693343" cy="1220748"/>
          </a:xfrm>
          <a:prstGeom prst="roundRect">
            <a:avLst>
              <a:gd name="adj" fmla="val 25468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5358" y="3314938"/>
            <a:ext cx="2438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Why XGBoost?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55358" y="3744039"/>
            <a:ext cx="7233285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Handles non-linear relationships, robust to overfitting, captures complex patterns.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25329" y="4512826"/>
            <a:ext cx="7693343" cy="1552337"/>
          </a:xfrm>
          <a:prstGeom prst="roundRect">
            <a:avLst>
              <a:gd name="adj" fmla="val 20028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5358" y="4742855"/>
            <a:ext cx="2438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Observations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955358" y="5171956"/>
            <a:ext cx="7233285" cy="663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Random Forest also strong (0.92 accuracy). Logistic Regression had lower performance.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25329" y="6272332"/>
            <a:ext cx="7693343" cy="1220748"/>
          </a:xfrm>
          <a:prstGeom prst="roundRect">
            <a:avLst>
              <a:gd name="adj" fmla="val 25468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5358" y="6502360"/>
            <a:ext cx="24384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955358" y="6931462"/>
            <a:ext cx="7233285" cy="331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Potential overfitting on small datasets; class imbalance may affect results.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583894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References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3646884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Kaggle Dataset: </a:t>
            </a:r>
            <a:r>
              <a:rPr lang="en-US" sz="1850" u="sng" dirty="0">
                <a:solidFill>
                  <a:srgbClr val="2D4DF2"/>
                </a:solidFill>
                <a:latin typeface="PT Sans" pitchFamily="34" charset="0"/>
                <a:ea typeface="PT Sans" pitchFamily="34" charset="-122"/>
                <a:cs typeface="PT San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https://www.kaggle.com/datasets/debasisdotcom/parkinson-disease-detection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4879658"/>
            <a:ext cx="7468553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Research Paper: Detection of Parkinson’s Disease Using Multiclass Machine Learning https://arxiv.org/abs/2008.00238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247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932" y="3627834"/>
            <a:ext cx="5317331" cy="664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Conclusion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90932" y="5309354"/>
            <a:ext cx="4123492" cy="225981"/>
          </a:xfrm>
          <a:prstGeom prst="roundRect">
            <a:avLst>
              <a:gd name="adj" fmla="val 150005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90932" y="5874306"/>
            <a:ext cx="2658666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Project Summary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790932" y="6342102"/>
            <a:ext cx="4123492" cy="108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We developed and evaluated ML models for Parkinson's prediction, identifying XGBoost as the top performer.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53395" y="4970383"/>
            <a:ext cx="4123492" cy="225981"/>
          </a:xfrm>
          <a:prstGeom prst="roundRect">
            <a:avLst>
              <a:gd name="adj" fmla="val 150005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53395" y="5535335"/>
            <a:ext cx="2658666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Takeaway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5253395" y="6003131"/>
            <a:ext cx="4123492" cy="72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Machine learning offers a powerful tool for early, non-invasive disease detection.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715857" y="4631412"/>
            <a:ext cx="4123492" cy="225981"/>
          </a:xfrm>
          <a:prstGeom prst="roundRect">
            <a:avLst>
              <a:gd name="adj" fmla="val 150005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715857" y="5196364"/>
            <a:ext cx="2658666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Future Work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9715857" y="5664160"/>
            <a:ext cx="4123492" cy="1084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Explore deep learning models and integrate additional data types like imaging.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661</Words>
  <Application>Microsoft Office PowerPoint</Application>
  <PresentationFormat>Custom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PT Sans Medium</vt:lpstr>
      <vt:lpstr>PT Sans</vt:lpstr>
      <vt:lpstr>Arial</vt:lpstr>
      <vt:lpstr>PT Sans Bold</vt:lpstr>
      <vt:lpstr>Nunito Semi Bold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Suneel Bharthi</cp:lastModifiedBy>
  <cp:revision>2</cp:revision>
  <dcterms:created xsi:type="dcterms:W3CDTF">2025-06-03T07:12:56Z</dcterms:created>
  <dcterms:modified xsi:type="dcterms:W3CDTF">2025-06-03T10:50:18Z</dcterms:modified>
</cp:coreProperties>
</file>